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1"/>
  </p:notesMasterIdLst>
  <p:sldIdLst>
    <p:sldId id="256" r:id="rId5"/>
    <p:sldId id="16140622" r:id="rId6"/>
    <p:sldId id="262" r:id="rId7"/>
    <p:sldId id="16140629" r:id="rId8"/>
    <p:sldId id="16140628" r:id="rId9"/>
    <p:sldId id="263" r:id="rId10"/>
    <p:sldId id="265" r:id="rId11"/>
    <p:sldId id="266" r:id="rId12"/>
    <p:sldId id="267" r:id="rId13"/>
    <p:sldId id="16140627" r:id="rId14"/>
    <p:sldId id="16140626" r:id="rId15"/>
    <p:sldId id="268" r:id="rId16"/>
    <p:sldId id="16140623" r:id="rId17"/>
    <p:sldId id="269" r:id="rId18"/>
    <p:sldId id="16140624"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6B6F7B-3D25-49FE-B622-EE74304CAC6A}" v="321" dt="2026-09-14T14:19:07.3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p:cNvSpPr>
            <a:spLocks noGrp="1"/>
          </p:cNvSpPr>
          <p:nvPr>
            <p:ph type="dt" sz="half" idx="10"/>
          </p:nvPr>
        </p:nvSpPr>
        <p:spPr/>
        <p:txBody>
          <a:bodyPr/>
          <a:lstStyle/>
          <a:p>
            <a:fld id="{ED291B17-9318-49DB-B28B-6E5994AE9581}" type="datetime1">
              <a:rPr lang="en-US" smtClean="0"/>
              <a:t>9/14/2026</a:t>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78DD82B9-B8EE-4375-B6FF-88FA6ABB15D9}" type="datetime1">
              <a:rPr lang="en-US" smtClean="0"/>
              <a:t>9/14/2026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2497495-0637-405E-AE64-5CC7506D51F5}" type="datetime1">
              <a:rPr lang="en-US" smtClean="0"/>
              <a:t>9/14/2026</a:t>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9/14/2026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9/14/2026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9/14/2026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t>9/14/2026</a:t>
            </a:fld>
            <a:endParaRPr lang="en-US"/>
          </a:p>
        </p:txBody>
      </p:sp>
      <p:sp>
        <p:nvSpPr>
          <p:cNvPr id="10" name="Footer Placeholder 9"/>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9/14/2026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9/14/2026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t>9/14/2026</a:t>
            </a:fld>
            <a:endParaRPr lang="en-US"/>
          </a:p>
        </p:txBody>
      </p:sp>
      <p:sp>
        <p:nvSpPr>
          <p:cNvPr id="12" name="Footer Placeholder 11"/>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9/14/2026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p:cNvPicPr>
            <a:picLocks noChangeAspect="1"/>
          </p:cNvPicPr>
          <p:nvPr userDrawn="1"/>
        </p:nvPicPr>
        <p:blipFill>
          <a:blip r:embed="rId13"/>
          <a:stretch>
            <a:fillRect/>
          </a:stretch>
        </p:blipFill>
        <p:spPr>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i-vehicle-management-analyser-b8fwue4m52vcnj6jpofzvi.streamlit.app/" TargetMode="External"/><Relationship Id="rId2" Type="http://schemas.openxmlformats.org/officeDocument/2006/relationships/hyperlink" Target="https://github.com/pratyusmalik-tech/AI-Vehicle-Management-Analyser"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8441" y="1525302"/>
            <a:ext cx="9144000" cy="977778"/>
          </a:xfrm>
        </p:spPr>
        <p:txBody>
          <a:bodyPr vert="horz" lIns="91440" tIns="45720" rIns="91440" bIns="45720" rtlCol="0" anchor="b">
            <a:noAutofit/>
          </a:bodyPr>
          <a:lstStyle/>
          <a:p>
            <a:pPr algn="ctr"/>
            <a:r>
              <a:rPr lang="en-US" altLang="en-US" sz="2800" b="1" dirty="0">
                <a:solidFill>
                  <a:schemeClr val="accent1"/>
                </a:solidFill>
                <a:latin typeface="Arial"/>
                <a:cs typeface="Arial"/>
              </a:rPr>
              <a:t>AutoInspect</a:t>
            </a:r>
            <a:r>
              <a:rPr lang="en-US" altLang="en-US" sz="2800" b="1">
                <a:solidFill>
                  <a:schemeClr val="accent1"/>
                </a:solidFill>
                <a:latin typeface="Arial"/>
                <a:cs typeface="Arial"/>
              </a:rPr>
              <a:t> AI - Intelligent Vehicle </a:t>
            </a:r>
            <a:r>
              <a:rPr lang="en-US" altLang="en-US" sz="2800" b="1" dirty="0">
                <a:solidFill>
                  <a:schemeClr val="accent1"/>
                </a:solidFill>
                <a:latin typeface="Arial"/>
                <a:cs typeface="Arial"/>
              </a:rPr>
              <a:t>Damage Assessment System</a:t>
            </a:r>
          </a:p>
        </p:txBody>
      </p:sp>
      <p:sp>
        <p:nvSpPr>
          <p:cNvPr id="3" name="TextBox 2"/>
          <p:cNvSpPr txBox="1"/>
          <p:nvPr/>
        </p:nvSpPr>
        <p:spPr>
          <a:xfrm>
            <a:off x="-329782" y="769738"/>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panose="020B0604020202020204"/>
                <a:cs typeface="Arial" panose="020B0604020202020204"/>
              </a:rPr>
              <a:t>CAPSTONE PROJECT</a:t>
            </a:r>
          </a:p>
        </p:txBody>
      </p:sp>
      <p:sp>
        <p:nvSpPr>
          <p:cNvPr id="4" name="TextBox 3"/>
          <p:cNvSpPr txBox="1"/>
          <p:nvPr/>
        </p:nvSpPr>
        <p:spPr>
          <a:xfrm>
            <a:off x="2107244" y="3879610"/>
            <a:ext cx="8160099"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anose="020B0604020202020204" pitchFamily="34" charset="0"/>
                <a:cs typeface="Arial" panose="020B0604020202020204" pitchFamily="34" charset="0"/>
              </a:rPr>
              <a:t>Presented By:</a:t>
            </a:r>
          </a:p>
          <a:p>
            <a:pPr marL="457200" indent="-457200">
              <a:buAutoNum type="arabicPeriod"/>
            </a:pPr>
            <a:r>
              <a:rPr lang="en-US" sz="2000" b="1" dirty="0">
                <a:solidFill>
                  <a:schemeClr val="accent1">
                    <a:lumMod val="75000"/>
                  </a:schemeClr>
                </a:solidFill>
                <a:latin typeface="Arial" panose="020B0604020202020204"/>
                <a:cs typeface="Arial" panose="020B0604020202020204"/>
              </a:rPr>
              <a:t>Student Name-</a:t>
            </a:r>
            <a:r>
              <a:rPr lang="en-IN" altLang="en-US" sz="2000" b="1" dirty="0">
                <a:solidFill>
                  <a:schemeClr val="accent1">
                    <a:lumMod val="75000"/>
                  </a:schemeClr>
                </a:solidFill>
                <a:latin typeface="Arial" panose="020B0604020202020204"/>
                <a:cs typeface="Arial" panose="020B0604020202020204"/>
              </a:rPr>
              <a:t> Pratyush Malik			</a:t>
            </a:r>
            <a:endParaRPr lang="en-US" sz="2000" b="1" dirty="0">
              <a:solidFill>
                <a:schemeClr val="accent1">
                  <a:lumMod val="75000"/>
                </a:schemeClr>
              </a:solidFill>
              <a:latin typeface="Arial" panose="020B0604020202020204"/>
              <a:cs typeface="Arial" panose="020B0604020202020204"/>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College Name-</a:t>
            </a:r>
            <a:r>
              <a:rPr lang="en-IN" altLang="en-US" sz="2000" b="1" dirty="0">
                <a:solidFill>
                  <a:schemeClr val="accent1">
                    <a:lumMod val="75000"/>
                  </a:schemeClr>
                </a:solidFill>
                <a:latin typeface="Arial" panose="020B0604020202020204"/>
                <a:cs typeface="Arial" panose="020B0604020202020204"/>
              </a:rPr>
              <a:t> Edunet Foundation</a:t>
            </a:r>
            <a:endParaRPr lang="en-US" sz="2000" b="1" dirty="0">
              <a:solidFill>
                <a:schemeClr val="accent1">
                  <a:lumMod val="75000"/>
                </a:schemeClr>
              </a:solidFill>
              <a:latin typeface="Arial" panose="020B0604020202020204"/>
              <a:cs typeface="Arial" panose="020B0604020202020204"/>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Department</a:t>
            </a:r>
            <a:r>
              <a:rPr lang="en-IN" altLang="en-US" sz="2000" b="1" dirty="0">
                <a:solidFill>
                  <a:schemeClr val="accent1">
                    <a:lumMod val="75000"/>
                  </a:schemeClr>
                </a:solidFill>
                <a:latin typeface="Arial" panose="020B0604020202020204"/>
                <a:cs typeface="Arial" panose="020B0604020202020204"/>
              </a:rPr>
              <a:t>- M.Sc.</a:t>
            </a:r>
            <a:endParaRPr lang="en-US" sz="2000" b="1" dirty="0">
              <a:solidFill>
                <a:schemeClr val="accent1">
                  <a:lumMod val="75000"/>
                </a:schemeClr>
              </a:solidFill>
              <a:latin typeface="Arial" panose="020B0604020202020204"/>
              <a:cs typeface="Arial" panose="020B0604020202020204"/>
            </a:endParaRPr>
          </a:p>
          <a:p>
            <a:r>
              <a:rPr lang="en-US" sz="2000" b="1" dirty="0">
                <a:solidFill>
                  <a:schemeClr val="accent1">
                    <a:lumMod val="75000"/>
                  </a:schemeClr>
                </a:solidFill>
                <a:latin typeface="Arial" panose="020B0604020202020204"/>
                <a:cs typeface="Arial" panose="020B0604020202020204"/>
              </a:rPr>
              <a:t>4.   AICTE ID</a:t>
            </a:r>
            <a:r>
              <a:rPr lang="en-IN" altLang="en-US" sz="2000" b="1" dirty="0">
                <a:solidFill>
                  <a:schemeClr val="accent1">
                    <a:lumMod val="75000"/>
                  </a:schemeClr>
                </a:solidFill>
                <a:latin typeface="Arial" panose="020B0604020202020204"/>
                <a:cs typeface="Arial" panose="020B0604020202020204"/>
              </a:rPr>
              <a:t>- </a:t>
            </a:r>
            <a:r>
              <a:rPr lang="en-US" altLang="en-US" sz="2000" b="1" dirty="0">
                <a:solidFill>
                  <a:schemeClr val="accent1">
                    <a:lumMod val="75000"/>
                  </a:schemeClr>
                </a:solidFill>
                <a:latin typeface="Arial" panose="020B0604020202020204"/>
                <a:cs typeface="Arial" panose="020B0604020202020204"/>
              </a:rPr>
              <a:t>STU6a0e8ee2ef7a31779338978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a:latin typeface="Arial" panose="020B0604020202020204"/>
                <a:ea typeface="+mn-lt"/>
                <a:cs typeface="Arial" panose="020B0604020202020204"/>
              </a:rPr>
              <a:t>  </a:t>
            </a:r>
            <a:endParaRPr lang="en-US">
              <a:latin typeface="Arial" panose="020B0604020202020204"/>
              <a:cs typeface="Arial" panose="020B0604020202020204"/>
            </a:endParaRPr>
          </a:p>
          <a:p>
            <a:r>
              <a:rPr lang="en-US" sz="2000" b="1">
                <a:latin typeface="Arial" panose="020B0604020202020204"/>
                <a:ea typeface="+mn-lt"/>
                <a:cs typeface="Arial" panose="020B0604020202020204"/>
              </a:rPr>
              <a:t>Problem Statement </a:t>
            </a:r>
            <a:r>
              <a:rPr lang="en-US" sz="2000">
                <a:latin typeface="Arial" panose="020B0604020202020204"/>
                <a:ea typeface="+mn-lt"/>
                <a:cs typeface="Arial" panose="020B0604020202020204"/>
              </a:rPr>
              <a:t>(Should not include solution)</a:t>
            </a:r>
            <a:endParaRPr lang="en-US">
              <a:latin typeface="Arial" panose="020B0604020202020204"/>
              <a:cs typeface="Arial" panose="020B0604020202020204"/>
            </a:endParaRPr>
          </a:p>
          <a:p>
            <a:r>
              <a:rPr lang="en-US" sz="2000" b="1">
                <a:latin typeface="Arial" panose="020B0604020202020204"/>
                <a:ea typeface="+mn-lt"/>
                <a:cs typeface="Arial" panose="020B0604020202020204"/>
              </a:rPr>
              <a:t>Proposed System/Solution</a:t>
            </a:r>
            <a:endParaRPr lang="en-US">
              <a:latin typeface="Arial" panose="020B0604020202020204"/>
              <a:cs typeface="Arial" panose="020B0604020202020204"/>
            </a:endParaRPr>
          </a:p>
          <a:p>
            <a:r>
              <a:rPr lang="en-US" sz="2000" b="1">
                <a:latin typeface="Arial" panose="020B0604020202020204"/>
                <a:ea typeface="+mn-lt"/>
                <a:cs typeface="Calibri" panose="020F0502020204030204"/>
              </a:rPr>
              <a:t>System </a:t>
            </a:r>
            <a:r>
              <a:rPr lang="en-US" sz="2000" b="1">
                <a:latin typeface="Arial" panose="020B0604020202020204"/>
                <a:ea typeface="+mn-lt"/>
                <a:cs typeface="+mn-lt"/>
              </a:rPr>
              <a:t>Development Approach </a:t>
            </a:r>
            <a:r>
              <a:rPr lang="en-US" sz="2000">
                <a:latin typeface="Arial" panose="020B0604020202020204"/>
                <a:ea typeface="+mn-lt"/>
                <a:cs typeface="+mn-lt"/>
              </a:rPr>
              <a:t>(Technology Used) </a:t>
            </a:r>
            <a:endParaRPr lang="en-US">
              <a:latin typeface="Arial" panose="020B0604020202020204"/>
              <a:ea typeface="+mn-lt"/>
              <a:cs typeface="+mn-lt"/>
            </a:endParaRPr>
          </a:p>
          <a:p>
            <a:r>
              <a:rPr lang="en-US" sz="2000" b="1">
                <a:latin typeface="Arial" panose="020B0604020202020204"/>
                <a:ea typeface="+mn-lt"/>
                <a:cs typeface="+mn-lt"/>
              </a:rPr>
              <a:t>Algorithm &amp; Deployment  </a:t>
            </a:r>
            <a:endParaRPr lang="en-US">
              <a:latin typeface="Arial" panose="020B0604020202020204"/>
              <a:cs typeface="Calibri" panose="020F0502020204030204"/>
            </a:endParaRPr>
          </a:p>
          <a:p>
            <a:r>
              <a:rPr lang="en-US" sz="2000" b="1">
                <a:latin typeface="Arial" panose="020B0604020202020204"/>
                <a:ea typeface="+mn-lt"/>
                <a:cs typeface="Arial" panose="020B0604020202020204"/>
              </a:rPr>
              <a:t>Result</a:t>
            </a:r>
          </a:p>
          <a:p>
            <a:r>
              <a:rPr lang="en-US" sz="2000" b="1">
                <a:latin typeface="Arial" panose="020B0604020202020204"/>
                <a:ea typeface="+mn-lt"/>
                <a:cs typeface="Arial" panose="020B0604020202020204"/>
              </a:rPr>
              <a:t>Conclusion</a:t>
            </a:r>
            <a:endParaRPr lang="en-US">
              <a:latin typeface="Arial" panose="020B0604020202020204"/>
              <a:cs typeface="Arial" panose="020B0604020202020204"/>
            </a:endParaRPr>
          </a:p>
          <a:p>
            <a:r>
              <a:rPr lang="en-US" sz="2000" b="1">
                <a:latin typeface="Arial" panose="020B0604020202020204"/>
                <a:ea typeface="+mn-lt"/>
                <a:cs typeface="Arial" panose="020B0604020202020204"/>
              </a:rPr>
              <a:t>Future Scope</a:t>
            </a:r>
          </a:p>
          <a:p>
            <a:r>
              <a:rPr lang="en-US" sz="2000" b="1">
                <a:latin typeface="Arial" panose="020B0604020202020204"/>
                <a:ea typeface="+mn-lt"/>
                <a:cs typeface="Arial" panose="020B0604020202020204"/>
              </a:rPr>
              <a:t>References</a:t>
            </a:r>
            <a:endParaRPr lang="en-US">
              <a:latin typeface="Arial" panose="020B0604020202020204"/>
              <a:cs typeface="Arial" panose="020B0604020202020204"/>
            </a:endParaRPr>
          </a:p>
          <a:p>
            <a:endParaRPr lang="en-US">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p:cNvSpPr>
            <a:spLocks noGrp="1"/>
          </p:cNvSpPr>
          <p:nvPr>
            <p:ph idx="1"/>
          </p:nvPr>
        </p:nvSpPr>
        <p:spPr>
          <a:xfrm>
            <a:off x="515620" y="1713865"/>
            <a:ext cx="11158220" cy="4673600"/>
          </a:xfrm>
        </p:spPr>
        <p:txBody>
          <a:bodyPr/>
          <a:lstStyle/>
          <a:p>
            <a:pPr marL="0" indent="0" algn="just">
              <a:buNone/>
            </a:pPr>
            <a:r>
              <a:rPr lang="en-US" altLang="en-US" sz="2400" dirty="0"/>
              <a:t>Vehicle damage assessment is often a time-consuming and subjective process that requires manual inspection by a skilled person, making it difficult for vehicle owners, insurance companies, and service centers to quickly identify and understand visible damage. The Vehicle Damage Analyzer aims to address this problem by developing an AI-powered application that uses multimodal Generative AI to analyze an uploaded vehicle image and identify visible damage such as scratches, dents, cracks, and broken components. The system provides information about the damaged area, type of damage, apparent severity, and potential safety concerns, helping users obtain a quick and structured preliminary assessment without requiring immediate manual inspection.</a:t>
            </a:r>
            <a:endParaRPr lang="en-US" sz="2400"/>
          </a:p>
          <a:p>
            <a:pPr marL="0" indent="0">
              <a:buNone/>
            </a:pP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D40E5-86FE-430A-1B94-511543246970}"/>
              </a:ext>
            </a:extLst>
          </p:cNvPr>
          <p:cNvSpPr>
            <a:spLocks noGrp="1"/>
          </p:cNvSpPr>
          <p:nvPr>
            <p:ph type="title"/>
          </p:nvPr>
        </p:nvSpPr>
        <p:spPr/>
        <p:txBody>
          <a:bodyPr>
            <a:noAutofit/>
          </a:bodyPr>
          <a:lstStyle/>
          <a:p>
            <a:r>
              <a:rPr lang="en-US" sz="4000" b="1">
                <a:solidFill>
                  <a:schemeClr val="accent1"/>
                </a:solidFill>
                <a:latin typeface="Arial"/>
                <a:ea typeface="Calibri"/>
                <a:cs typeface="Arial"/>
              </a:rPr>
              <a:t>SYSTEM DEVELOPMENT APPROACH</a:t>
            </a:r>
          </a:p>
        </p:txBody>
      </p:sp>
      <p:sp>
        <p:nvSpPr>
          <p:cNvPr id="3" name="Content Placeholder 2">
            <a:extLst>
              <a:ext uri="{FF2B5EF4-FFF2-40B4-BE49-F238E27FC236}">
                <a16:creationId xmlns:a16="http://schemas.microsoft.com/office/drawing/2014/main" id="{A84A1547-A2E7-F5DC-4154-7E8168C5E3A2}"/>
              </a:ext>
            </a:extLst>
          </p:cNvPr>
          <p:cNvSpPr>
            <a:spLocks noGrp="1"/>
          </p:cNvSpPr>
          <p:nvPr>
            <p:ph idx="1"/>
          </p:nvPr>
        </p:nvSpPr>
        <p:spPr>
          <a:xfrm>
            <a:off x="570609" y="1249110"/>
            <a:ext cx="11040198" cy="5435323"/>
          </a:xfrm>
        </p:spPr>
        <p:txBody>
          <a:bodyPr>
            <a:normAutofit/>
          </a:bodyPr>
          <a:lstStyle/>
          <a:p>
            <a:pPr>
              <a:buFont typeface="Wingdings" panose="05020102010507070707" pitchFamily="18" charset="2"/>
              <a:buChar char="Ø"/>
            </a:pPr>
            <a:r>
              <a:rPr lang="en-US" sz="1800" b="1">
                <a:latin typeface="Calibri"/>
                <a:ea typeface="Calibri"/>
                <a:cs typeface="Calibri"/>
              </a:rPr>
              <a:t>Hardware Requirements</a:t>
            </a:r>
            <a:endParaRPr lang="en-US" sz="1800">
              <a:latin typeface="Calibri"/>
              <a:ea typeface="Calibri"/>
              <a:cs typeface="Calibri"/>
            </a:endParaRPr>
          </a:p>
          <a:p>
            <a:pPr marL="0" indent="0">
              <a:buNone/>
            </a:pPr>
            <a:r>
              <a:rPr lang="en-US">
                <a:latin typeface="Calibri"/>
                <a:ea typeface="Calibri"/>
                <a:cs typeface="Calibri"/>
              </a:rPr>
              <a:t>Computer / Laptop </a:t>
            </a:r>
          </a:p>
          <a:p>
            <a:pPr marL="0" indent="0">
              <a:buNone/>
            </a:pPr>
            <a:r>
              <a:rPr lang="en-US">
                <a:latin typeface="Calibri"/>
                <a:ea typeface="Calibri"/>
                <a:cs typeface="Calibri"/>
              </a:rPr>
              <a:t>Minimum 4 GB RAM recommended</a:t>
            </a:r>
            <a:r>
              <a:rPr lang="en-US" dirty="0">
                <a:latin typeface="Calibri"/>
                <a:ea typeface="Calibri"/>
                <a:cs typeface="Calibri"/>
              </a:rPr>
              <a:t> </a:t>
            </a:r>
            <a:endParaRPr lang="en-US">
              <a:latin typeface="Calibri"/>
              <a:ea typeface="Calibri"/>
              <a:cs typeface="Calibri"/>
            </a:endParaRPr>
          </a:p>
          <a:p>
            <a:pPr marL="0" indent="0">
              <a:buNone/>
            </a:pPr>
            <a:r>
              <a:rPr lang="en-US">
                <a:latin typeface="Calibri"/>
                <a:ea typeface="Calibri"/>
                <a:cs typeface="Calibri"/>
              </a:rPr>
              <a:t>Stable Internet Connection </a:t>
            </a:r>
          </a:p>
          <a:p>
            <a:pPr marL="0" indent="0">
              <a:buNone/>
            </a:pPr>
            <a:r>
              <a:rPr lang="en-US">
                <a:latin typeface="Calibri"/>
                <a:ea typeface="Calibri"/>
                <a:cs typeface="Calibri"/>
              </a:rPr>
              <a:t>Web Browser </a:t>
            </a:r>
          </a:p>
          <a:p>
            <a:pPr>
              <a:buFont typeface="Wingdings" panose="05020102010507070707" pitchFamily="18" charset="2"/>
              <a:buChar char="Ø"/>
            </a:pPr>
            <a:r>
              <a:rPr lang="en-US" sz="1800" b="1">
                <a:latin typeface="Calibri"/>
                <a:ea typeface="Calibri"/>
                <a:cs typeface="Calibri"/>
              </a:rPr>
              <a:t>Software Requirements</a:t>
            </a:r>
          </a:p>
          <a:p>
            <a:pPr marL="0" indent="0">
              <a:buNone/>
            </a:pPr>
            <a:r>
              <a:rPr lang="en-US">
                <a:latin typeface="Calibri"/>
                <a:ea typeface="Calibri"/>
                <a:cs typeface="Calibri"/>
              </a:rPr>
              <a:t>Python</a:t>
            </a:r>
            <a:r>
              <a:rPr lang="en-US" dirty="0">
                <a:latin typeface="Calibri"/>
                <a:ea typeface="Calibri"/>
                <a:cs typeface="Calibri"/>
              </a:rPr>
              <a:t> </a:t>
            </a:r>
            <a:endParaRPr lang="en-US">
              <a:latin typeface="Calibri"/>
              <a:ea typeface="Calibri"/>
              <a:cs typeface="Calibri"/>
            </a:endParaRPr>
          </a:p>
          <a:p>
            <a:pPr marL="0" indent="0">
              <a:buNone/>
            </a:pPr>
            <a:r>
              <a:rPr lang="en-US">
                <a:latin typeface="Calibri"/>
                <a:ea typeface="Calibri"/>
                <a:cs typeface="Calibri"/>
              </a:rPr>
              <a:t>Streamlit</a:t>
            </a:r>
            <a:r>
              <a:rPr lang="en-US" dirty="0">
                <a:latin typeface="Calibri"/>
                <a:ea typeface="Calibri"/>
                <a:cs typeface="Calibri"/>
              </a:rPr>
              <a:t> </a:t>
            </a:r>
            <a:endParaRPr lang="en-US">
              <a:latin typeface="Calibri"/>
              <a:ea typeface="Calibri"/>
              <a:cs typeface="Calibri"/>
            </a:endParaRPr>
          </a:p>
          <a:p>
            <a:pPr marL="0" indent="0">
              <a:buNone/>
            </a:pPr>
            <a:r>
              <a:rPr lang="en-US">
                <a:latin typeface="Calibri"/>
                <a:ea typeface="Calibri"/>
                <a:cs typeface="Calibri"/>
              </a:rPr>
              <a:t>Google Gemini API</a:t>
            </a:r>
            <a:r>
              <a:rPr lang="en-US" dirty="0">
                <a:latin typeface="Calibri"/>
                <a:ea typeface="Calibri"/>
                <a:cs typeface="Calibri"/>
              </a:rPr>
              <a:t> </a:t>
            </a:r>
            <a:endParaRPr lang="en-US">
              <a:latin typeface="Calibri"/>
              <a:ea typeface="Calibri"/>
              <a:cs typeface="Calibri"/>
            </a:endParaRPr>
          </a:p>
          <a:p>
            <a:pPr marL="0" indent="0">
              <a:buNone/>
            </a:pPr>
            <a:r>
              <a:rPr lang="en-US">
                <a:latin typeface="Calibri"/>
                <a:ea typeface="Calibri"/>
                <a:cs typeface="Calibri"/>
              </a:rPr>
              <a:t>Pillow (PIL)</a:t>
            </a:r>
            <a:r>
              <a:rPr lang="en-US" dirty="0">
                <a:latin typeface="Calibri"/>
                <a:ea typeface="Calibri"/>
                <a:cs typeface="Calibri"/>
              </a:rPr>
              <a:t> </a:t>
            </a:r>
            <a:endParaRPr lang="en-US">
              <a:latin typeface="Calibri"/>
              <a:ea typeface="Calibri"/>
              <a:cs typeface="Calibri"/>
            </a:endParaRPr>
          </a:p>
          <a:p>
            <a:pPr marL="0" indent="0">
              <a:buNone/>
            </a:pPr>
            <a:r>
              <a:rPr lang="en-US">
                <a:latin typeface="Calibri"/>
                <a:ea typeface="Calibri"/>
                <a:cs typeface="Calibri"/>
              </a:rPr>
              <a:t>Python IDE / VS Code </a:t>
            </a:r>
          </a:p>
          <a:p>
            <a:pPr marL="0" indent="0">
              <a:buNone/>
            </a:pPr>
            <a:r>
              <a:rPr lang="en-US">
                <a:latin typeface="Calibri"/>
                <a:ea typeface="Calibri"/>
                <a:cs typeface="Calibri"/>
              </a:rPr>
              <a:t>Modern Web Browser</a:t>
            </a:r>
          </a:p>
        </p:txBody>
      </p:sp>
    </p:spTree>
    <p:extLst>
      <p:ext uri="{BB962C8B-B14F-4D97-AF65-F5344CB8AC3E}">
        <p14:creationId xmlns:p14="http://schemas.microsoft.com/office/powerpoint/2010/main" val="3338503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0CCAF-B8E8-499B-3EF0-3BF0947C7038}"/>
              </a:ext>
            </a:extLst>
          </p:cNvPr>
          <p:cNvSpPr>
            <a:spLocks noGrp="1"/>
          </p:cNvSpPr>
          <p:nvPr>
            <p:ph type="title"/>
          </p:nvPr>
        </p:nvSpPr>
        <p:spPr>
          <a:xfrm>
            <a:off x="658496" y="801547"/>
            <a:ext cx="11029616" cy="530296"/>
          </a:xfrm>
        </p:spPr>
        <p:txBody>
          <a:bodyPr>
            <a:noAutofit/>
          </a:bodyPr>
          <a:lstStyle/>
          <a:p>
            <a:r>
              <a:rPr lang="en-US" sz="4000" b="1">
                <a:solidFill>
                  <a:schemeClr val="accent1"/>
                </a:solidFill>
                <a:latin typeface="Arial"/>
                <a:ea typeface="+mj-lt"/>
                <a:cs typeface="Arial"/>
              </a:rPr>
              <a:t>TECHNOLOGY STACK</a:t>
            </a:r>
            <a:endParaRPr lang="en-US" sz="4000" b="1">
              <a:solidFill>
                <a:schemeClr val="accent1"/>
              </a:solidFill>
              <a:latin typeface="Arial"/>
              <a:cs typeface="Arial"/>
            </a:endParaRPr>
          </a:p>
        </p:txBody>
      </p:sp>
      <p:graphicFrame>
        <p:nvGraphicFramePr>
          <p:cNvPr id="5" name="Content Placeholder 4">
            <a:extLst>
              <a:ext uri="{FF2B5EF4-FFF2-40B4-BE49-F238E27FC236}">
                <a16:creationId xmlns:a16="http://schemas.microsoft.com/office/drawing/2014/main" id="{384912FA-7CF4-3CBA-035F-8810097DBCE0}"/>
              </a:ext>
            </a:extLst>
          </p:cNvPr>
          <p:cNvGraphicFramePr>
            <a:graphicFrameLocks noGrp="1"/>
          </p:cNvGraphicFramePr>
          <p:nvPr>
            <p:ph idx="1"/>
            <p:extLst>
              <p:ext uri="{D42A27DB-BD31-4B8C-83A1-F6EECF244321}">
                <p14:modId xmlns:p14="http://schemas.microsoft.com/office/powerpoint/2010/main" val="3957991053"/>
              </p:ext>
            </p:extLst>
          </p:nvPr>
        </p:nvGraphicFramePr>
        <p:xfrm>
          <a:off x="508000" y="1711738"/>
          <a:ext cx="11178092" cy="4717581"/>
        </p:xfrm>
        <a:graphic>
          <a:graphicData uri="http://schemas.openxmlformats.org/drawingml/2006/table">
            <a:tbl>
              <a:tblPr bandRow="1">
                <a:tableStyleId>{5C22544A-7EE6-4342-B048-85BDC9FD1C3A}</a:tableStyleId>
              </a:tblPr>
              <a:tblGrid>
                <a:gridCol w="5589046">
                  <a:extLst>
                    <a:ext uri="{9D8B030D-6E8A-4147-A177-3AD203B41FA5}">
                      <a16:colId xmlns:a16="http://schemas.microsoft.com/office/drawing/2014/main" val="883651907"/>
                    </a:ext>
                  </a:extLst>
                </a:gridCol>
                <a:gridCol w="5589046">
                  <a:extLst>
                    <a:ext uri="{9D8B030D-6E8A-4147-A177-3AD203B41FA5}">
                      <a16:colId xmlns:a16="http://schemas.microsoft.com/office/drawing/2014/main" val="3105513601"/>
                    </a:ext>
                  </a:extLst>
                </a:gridCol>
              </a:tblGrid>
              <a:tr h="488949">
                <a:tc>
                  <a:txBody>
                    <a:bodyPr/>
                    <a:lstStyle/>
                    <a:p>
                      <a:pPr>
                        <a:buNone/>
                      </a:pPr>
                      <a:r>
                        <a:rPr lang="en-US" sz="2000" b="1">
                          <a:latin typeface="Calibri"/>
                          <a:ea typeface="Calibri"/>
                          <a:cs typeface="Calibri"/>
                        </a:rPr>
                        <a:t>Component</a:t>
                      </a:r>
                    </a:p>
                  </a:txBody>
                  <a:tcPr anchor="ctr">
                    <a:lnL>
                      <a:noFill/>
                    </a:lnL>
                    <a:lnR>
                      <a:noFill/>
                    </a:lnR>
                    <a:lnT>
                      <a:noFill/>
                    </a:lnT>
                    <a:lnB>
                      <a:noFill/>
                    </a:lnB>
                    <a:noFill/>
                  </a:tcPr>
                </a:tc>
                <a:tc>
                  <a:txBody>
                    <a:bodyPr/>
                    <a:lstStyle/>
                    <a:p>
                      <a:pPr>
                        <a:buNone/>
                      </a:pPr>
                      <a:r>
                        <a:rPr lang="en-US" sz="2000" b="1">
                          <a:latin typeface="Calibri"/>
                          <a:ea typeface="Calibri"/>
                          <a:cs typeface="Calibri"/>
                        </a:rPr>
                        <a:t>Technology</a:t>
                      </a:r>
                    </a:p>
                  </a:txBody>
                  <a:tcPr anchor="ctr">
                    <a:lnL>
                      <a:noFill/>
                    </a:lnL>
                    <a:lnR>
                      <a:noFill/>
                    </a:lnR>
                    <a:lnT>
                      <a:noFill/>
                    </a:lnT>
                    <a:lnB>
                      <a:noFill/>
                    </a:lnB>
                    <a:noFill/>
                  </a:tcPr>
                </a:tc>
                <a:extLst>
                  <a:ext uri="{0D108BD9-81ED-4DB2-BD59-A6C34878D82A}">
                    <a16:rowId xmlns:a16="http://schemas.microsoft.com/office/drawing/2014/main" val="1110294980"/>
                  </a:ext>
                </a:extLst>
              </a:tr>
              <a:tr h="704772">
                <a:tc>
                  <a:txBody>
                    <a:bodyPr/>
                    <a:lstStyle/>
                    <a:p>
                      <a:pPr algn="just">
                        <a:buNone/>
                      </a:pPr>
                      <a:r>
                        <a:rPr lang="en-US">
                          <a:latin typeface="Calibri"/>
                          <a:ea typeface="Calibri"/>
                          <a:cs typeface="Calibri"/>
                        </a:rPr>
                        <a:t>Programming Language</a:t>
                      </a:r>
                    </a:p>
                  </a:txBody>
                  <a:tcPr anchor="ctr">
                    <a:lnL>
                      <a:noFill/>
                    </a:lnL>
                    <a:lnR>
                      <a:noFill/>
                    </a:lnR>
                    <a:lnT>
                      <a:noFill/>
                    </a:lnT>
                    <a:lnB>
                      <a:noFill/>
                    </a:lnB>
                    <a:noFill/>
                  </a:tcPr>
                </a:tc>
                <a:tc>
                  <a:txBody>
                    <a:bodyPr/>
                    <a:lstStyle/>
                    <a:p>
                      <a:pPr algn="just">
                        <a:buNone/>
                      </a:pPr>
                      <a:r>
                        <a:rPr lang="en-US">
                          <a:latin typeface="Calibri"/>
                          <a:ea typeface="Calibri"/>
                          <a:cs typeface="Calibri"/>
                        </a:rPr>
                        <a:t>Python</a:t>
                      </a:r>
                    </a:p>
                  </a:txBody>
                  <a:tcPr anchor="ctr">
                    <a:lnL>
                      <a:noFill/>
                    </a:lnL>
                    <a:lnR>
                      <a:noFill/>
                    </a:lnR>
                    <a:lnT>
                      <a:noFill/>
                    </a:lnT>
                    <a:lnB>
                      <a:noFill/>
                    </a:lnB>
                    <a:noFill/>
                  </a:tcPr>
                </a:tc>
                <a:extLst>
                  <a:ext uri="{0D108BD9-81ED-4DB2-BD59-A6C34878D82A}">
                    <a16:rowId xmlns:a16="http://schemas.microsoft.com/office/drawing/2014/main" val="4044594506"/>
                  </a:ext>
                </a:extLst>
              </a:tr>
              <a:tr h="704772">
                <a:tc>
                  <a:txBody>
                    <a:bodyPr/>
                    <a:lstStyle/>
                    <a:p>
                      <a:pPr algn="just">
                        <a:buNone/>
                      </a:pPr>
                      <a:r>
                        <a:rPr lang="en-US">
                          <a:latin typeface="Calibri"/>
                          <a:ea typeface="Calibri"/>
                          <a:cs typeface="Calibri"/>
                        </a:rPr>
                        <a:t>Frontend / UI</a:t>
                      </a:r>
                    </a:p>
                  </a:txBody>
                  <a:tcPr anchor="ctr">
                    <a:lnL>
                      <a:noFill/>
                    </a:lnL>
                    <a:lnR>
                      <a:noFill/>
                    </a:lnR>
                    <a:lnT>
                      <a:noFill/>
                    </a:lnT>
                    <a:lnB>
                      <a:noFill/>
                    </a:lnB>
                    <a:noFill/>
                  </a:tcPr>
                </a:tc>
                <a:tc>
                  <a:txBody>
                    <a:bodyPr/>
                    <a:lstStyle/>
                    <a:p>
                      <a:pPr algn="just">
                        <a:buNone/>
                      </a:pPr>
                      <a:r>
                        <a:rPr lang="en-US">
                          <a:latin typeface="Calibri"/>
                          <a:ea typeface="Calibri"/>
                          <a:cs typeface="Calibri"/>
                        </a:rPr>
                        <a:t>Streamlit</a:t>
                      </a:r>
                    </a:p>
                  </a:txBody>
                  <a:tcPr anchor="ctr">
                    <a:lnL>
                      <a:noFill/>
                    </a:lnL>
                    <a:lnR>
                      <a:noFill/>
                    </a:lnR>
                    <a:lnT>
                      <a:noFill/>
                    </a:lnT>
                    <a:lnB>
                      <a:noFill/>
                    </a:lnB>
                    <a:noFill/>
                  </a:tcPr>
                </a:tc>
                <a:extLst>
                  <a:ext uri="{0D108BD9-81ED-4DB2-BD59-A6C34878D82A}">
                    <a16:rowId xmlns:a16="http://schemas.microsoft.com/office/drawing/2014/main" val="3141567193"/>
                  </a:ext>
                </a:extLst>
              </a:tr>
              <a:tr h="704772">
                <a:tc>
                  <a:txBody>
                    <a:bodyPr/>
                    <a:lstStyle/>
                    <a:p>
                      <a:pPr algn="just">
                        <a:buNone/>
                      </a:pPr>
                      <a:r>
                        <a:rPr lang="en-US">
                          <a:latin typeface="Calibri"/>
                          <a:ea typeface="Calibri"/>
                          <a:cs typeface="Calibri"/>
                        </a:rPr>
                        <a:t>AI Model</a:t>
                      </a:r>
                    </a:p>
                  </a:txBody>
                  <a:tcPr anchor="ctr">
                    <a:lnL>
                      <a:noFill/>
                    </a:lnL>
                    <a:lnR>
                      <a:noFill/>
                    </a:lnR>
                    <a:lnT>
                      <a:noFill/>
                    </a:lnT>
                    <a:lnB>
                      <a:noFill/>
                    </a:lnB>
                    <a:noFill/>
                  </a:tcPr>
                </a:tc>
                <a:tc>
                  <a:txBody>
                    <a:bodyPr/>
                    <a:lstStyle/>
                    <a:p>
                      <a:pPr algn="just">
                        <a:buNone/>
                      </a:pPr>
                      <a:r>
                        <a:rPr lang="en-US">
                          <a:latin typeface="Calibri"/>
                          <a:ea typeface="Calibri"/>
                          <a:cs typeface="Calibri"/>
                        </a:rPr>
                        <a:t>Gemini 2.5 Flash</a:t>
                      </a:r>
                    </a:p>
                  </a:txBody>
                  <a:tcPr anchor="ctr">
                    <a:lnL>
                      <a:noFill/>
                    </a:lnL>
                    <a:lnR>
                      <a:noFill/>
                    </a:lnR>
                    <a:lnT>
                      <a:noFill/>
                    </a:lnT>
                    <a:lnB>
                      <a:noFill/>
                    </a:lnB>
                    <a:noFill/>
                  </a:tcPr>
                </a:tc>
                <a:extLst>
                  <a:ext uri="{0D108BD9-81ED-4DB2-BD59-A6C34878D82A}">
                    <a16:rowId xmlns:a16="http://schemas.microsoft.com/office/drawing/2014/main" val="390761659"/>
                  </a:ext>
                </a:extLst>
              </a:tr>
              <a:tr h="704772">
                <a:tc>
                  <a:txBody>
                    <a:bodyPr/>
                    <a:lstStyle/>
                    <a:p>
                      <a:pPr algn="just">
                        <a:buNone/>
                      </a:pPr>
                      <a:r>
                        <a:rPr lang="en-US">
                          <a:latin typeface="Calibri"/>
                          <a:ea typeface="Calibri"/>
                          <a:cs typeface="Calibri"/>
                        </a:rPr>
                        <a:t>AI API</a:t>
                      </a:r>
                    </a:p>
                  </a:txBody>
                  <a:tcPr anchor="ctr">
                    <a:lnL>
                      <a:noFill/>
                    </a:lnL>
                    <a:lnR>
                      <a:noFill/>
                    </a:lnR>
                    <a:lnT>
                      <a:noFill/>
                    </a:lnT>
                    <a:lnB>
                      <a:noFill/>
                    </a:lnB>
                    <a:noFill/>
                  </a:tcPr>
                </a:tc>
                <a:tc>
                  <a:txBody>
                    <a:bodyPr/>
                    <a:lstStyle/>
                    <a:p>
                      <a:pPr algn="just">
                        <a:buNone/>
                      </a:pPr>
                      <a:r>
                        <a:rPr lang="en-US">
                          <a:latin typeface="Calibri"/>
                          <a:ea typeface="Calibri"/>
                          <a:cs typeface="Calibri"/>
                        </a:rPr>
                        <a:t>Google Gemini API</a:t>
                      </a:r>
                    </a:p>
                  </a:txBody>
                  <a:tcPr anchor="ctr">
                    <a:lnL>
                      <a:noFill/>
                    </a:lnL>
                    <a:lnR>
                      <a:noFill/>
                    </a:lnR>
                    <a:lnT>
                      <a:noFill/>
                    </a:lnT>
                    <a:lnB>
                      <a:noFill/>
                    </a:lnB>
                    <a:noFill/>
                  </a:tcPr>
                </a:tc>
                <a:extLst>
                  <a:ext uri="{0D108BD9-81ED-4DB2-BD59-A6C34878D82A}">
                    <a16:rowId xmlns:a16="http://schemas.microsoft.com/office/drawing/2014/main" val="1290005747"/>
                  </a:ext>
                </a:extLst>
              </a:tr>
              <a:tr h="704772">
                <a:tc>
                  <a:txBody>
                    <a:bodyPr/>
                    <a:lstStyle/>
                    <a:p>
                      <a:pPr algn="just">
                        <a:buNone/>
                      </a:pPr>
                      <a:r>
                        <a:rPr lang="en-US">
                          <a:latin typeface="Calibri"/>
                          <a:ea typeface="Calibri"/>
                          <a:cs typeface="Calibri"/>
                        </a:rPr>
                        <a:t>Image Processing</a:t>
                      </a:r>
                    </a:p>
                  </a:txBody>
                  <a:tcPr anchor="ctr">
                    <a:lnL>
                      <a:noFill/>
                    </a:lnL>
                    <a:lnR>
                      <a:noFill/>
                    </a:lnR>
                    <a:lnT>
                      <a:noFill/>
                    </a:lnT>
                    <a:lnB>
                      <a:noFill/>
                    </a:lnB>
                    <a:noFill/>
                  </a:tcPr>
                </a:tc>
                <a:tc>
                  <a:txBody>
                    <a:bodyPr/>
                    <a:lstStyle/>
                    <a:p>
                      <a:pPr algn="just">
                        <a:buNone/>
                      </a:pPr>
                      <a:r>
                        <a:rPr lang="en-US">
                          <a:latin typeface="Calibri"/>
                          <a:ea typeface="Calibri"/>
                          <a:cs typeface="Calibri"/>
                        </a:rPr>
                        <a:t>Pillow</a:t>
                      </a:r>
                    </a:p>
                  </a:txBody>
                  <a:tcPr anchor="ctr">
                    <a:lnL>
                      <a:noFill/>
                    </a:lnL>
                    <a:lnR>
                      <a:noFill/>
                    </a:lnR>
                    <a:lnT>
                      <a:noFill/>
                    </a:lnT>
                    <a:lnB>
                      <a:noFill/>
                    </a:lnB>
                    <a:noFill/>
                  </a:tcPr>
                </a:tc>
                <a:extLst>
                  <a:ext uri="{0D108BD9-81ED-4DB2-BD59-A6C34878D82A}">
                    <a16:rowId xmlns:a16="http://schemas.microsoft.com/office/drawing/2014/main" val="3563274982"/>
                  </a:ext>
                </a:extLst>
              </a:tr>
              <a:tr h="704772">
                <a:tc>
                  <a:txBody>
                    <a:bodyPr/>
                    <a:lstStyle/>
                    <a:p>
                      <a:pPr algn="just">
                        <a:buNone/>
                      </a:pPr>
                      <a:r>
                        <a:rPr lang="en-US">
                          <a:latin typeface="Calibri"/>
                          <a:ea typeface="Calibri"/>
                          <a:cs typeface="Calibri"/>
                        </a:rPr>
                        <a:t>Development Environment</a:t>
                      </a:r>
                    </a:p>
                  </a:txBody>
                  <a:tcPr anchor="ctr">
                    <a:lnL>
                      <a:noFill/>
                    </a:lnL>
                    <a:lnR>
                      <a:noFill/>
                    </a:lnR>
                    <a:lnT>
                      <a:noFill/>
                    </a:lnT>
                    <a:lnB>
                      <a:noFill/>
                    </a:lnB>
                    <a:noFill/>
                  </a:tcPr>
                </a:tc>
                <a:tc>
                  <a:txBody>
                    <a:bodyPr/>
                    <a:lstStyle/>
                    <a:p>
                      <a:pPr algn="just">
                        <a:buNone/>
                      </a:pPr>
                      <a:r>
                        <a:rPr lang="en-US">
                          <a:latin typeface="Calibri"/>
                          <a:ea typeface="Calibri"/>
                          <a:cs typeface="Calibri"/>
                        </a:rPr>
                        <a:t>VS Code / Python IDE</a:t>
                      </a:r>
                    </a:p>
                  </a:txBody>
                  <a:tcPr anchor="ctr">
                    <a:lnL>
                      <a:noFill/>
                    </a:lnL>
                    <a:lnR>
                      <a:noFill/>
                    </a:lnR>
                    <a:lnT>
                      <a:noFill/>
                    </a:lnT>
                    <a:lnB>
                      <a:noFill/>
                    </a:lnB>
                    <a:noFill/>
                  </a:tcPr>
                </a:tc>
                <a:extLst>
                  <a:ext uri="{0D108BD9-81ED-4DB2-BD59-A6C34878D82A}">
                    <a16:rowId xmlns:a16="http://schemas.microsoft.com/office/drawing/2014/main" val="3674748242"/>
                  </a:ext>
                </a:extLst>
              </a:tr>
            </a:tbl>
          </a:graphicData>
        </a:graphic>
      </p:graphicFrame>
    </p:spTree>
    <p:extLst>
      <p:ext uri="{BB962C8B-B14F-4D97-AF65-F5344CB8AC3E}">
        <p14:creationId xmlns:p14="http://schemas.microsoft.com/office/powerpoint/2010/main" val="3562059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p:cNvSpPr>
            <a:spLocks noGrp="1"/>
          </p:cNvSpPr>
          <p:nvPr>
            <p:ph idx="1"/>
          </p:nvPr>
        </p:nvSpPr>
        <p:spPr>
          <a:xfrm>
            <a:off x="441671" y="1087378"/>
            <a:ext cx="11613485" cy="5563973"/>
          </a:xfrm>
        </p:spPr>
        <p:txBody>
          <a:bodyPr vert="horz" lIns="91440" tIns="45720" rIns="91440" bIns="45720" rtlCol="0" anchor="ctr">
            <a:noAutofit/>
          </a:bodyPr>
          <a:lstStyle/>
          <a:p>
            <a:pPr marL="171450" indent="-171450">
              <a:buFont typeface="Arial" panose="05020102010507070707" pitchFamily="18" charset="2"/>
              <a:buChar char="•"/>
            </a:pPr>
            <a:endParaRPr lang="en-US" altLang="en-US" sz="1600" dirty="0">
              <a:latin typeface="Calibri" panose="020F0502020204030204"/>
              <a:ea typeface="Calibri" panose="020F0502020204030204"/>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Upload a vehicle image through a </a:t>
            </a:r>
            <a:r>
              <a:rPr lang="en-US" altLang="en-US" sz="2400" dirty="0" err="1">
                <a:latin typeface="Calibri" panose="020F0502020204030204"/>
                <a:cs typeface="Calibri" panose="020F0502020204030204"/>
              </a:rPr>
              <a:t>Streamlit</a:t>
            </a:r>
            <a:r>
              <a:rPr lang="en-US" altLang="en-US" sz="2400" dirty="0">
                <a:latin typeface="Calibri" panose="020F0502020204030204"/>
                <a:cs typeface="Calibri" panose="020F0502020204030204"/>
              </a:rPr>
              <a:t> interface.</a:t>
            </a:r>
            <a:endParaRPr lang="en-US" altLang="en-US" sz="2400">
              <a:latin typeface="Calibri" panose="020F0502020204030204"/>
              <a:ea typeface="Calibri"/>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Send the image and analysis prompt to Gemini 3.6 Flash.</a:t>
            </a:r>
            <a:endParaRPr lang="en-US" altLang="en-US" sz="2400">
              <a:latin typeface="Calibri" panose="020F0502020204030204"/>
              <a:ea typeface="Calibri"/>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Identify visible damage such as scratches, dents, cracks, and broken components.</a:t>
            </a:r>
            <a:endParaRPr lang="en-US" altLang="en-US" sz="2400">
              <a:latin typeface="Calibri" panose="020F0502020204030204"/>
              <a:ea typeface="Calibri"/>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Identify the approximate location of the damage.</a:t>
            </a:r>
            <a:endParaRPr lang="en-US" altLang="en-US" sz="2400">
              <a:latin typeface="Calibri" panose="020F0502020204030204"/>
              <a:ea typeface="Calibri"/>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Classify apparent severity as Minor, Moderate, or Severe.</a:t>
            </a:r>
            <a:endParaRPr lang="en-US" altLang="en-US" sz="2400">
              <a:latin typeface="Calibri" panose="020F0502020204030204"/>
              <a:ea typeface="Calibri"/>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Highlight potential visible safety concerns.</a:t>
            </a:r>
            <a:endParaRPr lang="en-US" altLang="en-US" sz="2400">
              <a:latin typeface="Calibri" panose="020F0502020204030204"/>
              <a:ea typeface="Calibri"/>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Suggest components that may require professional inspection.</a:t>
            </a:r>
            <a:endParaRPr lang="en-US" altLang="en-US" sz="2400">
              <a:latin typeface="Calibri" panose="020F0502020204030204"/>
              <a:ea typeface="Calibri"/>
              <a:cs typeface="Calibri" panose="020F0502020204030204"/>
            </a:endParaRPr>
          </a:p>
          <a:p>
            <a:pPr marL="305435" indent="-305435">
              <a:buFont typeface="Arial" panose="05020102010507070707" pitchFamily="18" charset="2"/>
              <a:buChar char="•"/>
            </a:pPr>
            <a:r>
              <a:rPr lang="en-US" altLang="en-US" sz="2400" dirty="0">
                <a:latin typeface="Calibri" panose="020F0502020204030204"/>
                <a:cs typeface="Calibri" panose="020F0502020204030204"/>
              </a:rPr>
              <a:t>Generate a structured damage assessment report.</a:t>
            </a:r>
            <a:endParaRPr lang="en-US" altLang="en-US" sz="2400">
              <a:latin typeface="Calibri" panose="020F0502020204030204"/>
              <a:ea typeface="Calibri"/>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panose="020B0604020202020204"/>
                <a:ea typeface="+mj-lt"/>
                <a:cs typeface="Arial" panose="020B0604020202020204"/>
              </a:rPr>
              <a:t>System  Approach</a:t>
            </a:r>
            <a:endParaRPr lang="en-US" sz="4400">
              <a:solidFill>
                <a:schemeClr val="accent1"/>
              </a:solidFill>
              <a:latin typeface="Calibri Light" panose="020F0302020204030204"/>
              <a:cs typeface="Calibri Light" panose="020F0302020204030204"/>
            </a:endParaRPr>
          </a:p>
        </p:txBody>
      </p:sp>
      <p:sp>
        <p:nvSpPr>
          <p:cNvPr id="2" name="Content Placeholder 1"/>
          <p:cNvSpPr>
            <a:spLocks noGrp="1"/>
          </p:cNvSpPr>
          <p:nvPr>
            <p:ph idx="1"/>
          </p:nvPr>
        </p:nvSpPr>
        <p:spPr>
          <a:xfrm>
            <a:off x="581192" y="1397276"/>
            <a:ext cx="10913198" cy="4969657"/>
          </a:xfrm>
        </p:spPr>
        <p:txBody>
          <a:bodyPr vert="horz" lIns="91440" tIns="45720" rIns="91440" bIns="45720" rtlCol="0" anchor="ctr">
            <a:noAutofit/>
          </a:bodyPr>
          <a:lstStyle/>
          <a:p>
            <a:pPr marL="0" indent="0" algn="ctr">
              <a:buNone/>
            </a:pPr>
            <a:r>
              <a:rPr lang="en-US" altLang="en-US" sz="1400" dirty="0">
                <a:solidFill>
                  <a:srgbClr val="0F0F0F"/>
                </a:solidFill>
                <a:latin typeface="Calibri"/>
                <a:ea typeface="Calibri"/>
                <a:cs typeface="Calibri"/>
              </a:rPr>
              <a:t>Vehicle Image</a:t>
            </a:r>
            <a:endParaRPr lang="en-US" sz="1400">
              <a:latin typeface="Calibri"/>
              <a:ea typeface="Calibri"/>
              <a:cs typeface="Calibri"/>
            </a:endParaRPr>
          </a:p>
          <a:p>
            <a:pPr marL="0" indent="0" algn="ctr">
              <a:buNone/>
            </a:pPr>
            <a:r>
              <a:rPr lang="en-US" altLang="en-US" sz="1400" dirty="0">
                <a:solidFill>
                  <a:srgbClr val="0F0F0F"/>
                </a:solidFill>
                <a:latin typeface="Calibri"/>
                <a:ea typeface="Calibri"/>
                <a:cs typeface="Calibri"/>
              </a:rPr>
              <a:t>      ↓</a:t>
            </a:r>
          </a:p>
          <a:p>
            <a:pPr marL="0" indent="0" algn="ctr">
              <a:buNone/>
            </a:pPr>
            <a:r>
              <a:rPr lang="en-US" altLang="en-US" sz="1400" dirty="0">
                <a:solidFill>
                  <a:srgbClr val="0F0F0F"/>
                </a:solidFill>
                <a:latin typeface="Calibri"/>
                <a:ea typeface="Calibri"/>
                <a:cs typeface="Calibri"/>
              </a:rPr>
              <a:t>Image Upload</a:t>
            </a:r>
          </a:p>
          <a:p>
            <a:pPr marL="0" indent="0" algn="ctr">
              <a:buNone/>
            </a:pPr>
            <a:r>
              <a:rPr lang="en-US" altLang="en-US" sz="1400" dirty="0">
                <a:solidFill>
                  <a:srgbClr val="0F0F0F"/>
                </a:solidFill>
                <a:latin typeface="Calibri"/>
                <a:ea typeface="Calibri"/>
                <a:cs typeface="Calibri"/>
              </a:rPr>
              <a:t>      ↓</a:t>
            </a:r>
          </a:p>
          <a:p>
            <a:pPr marL="0" indent="0" algn="ctr">
              <a:buNone/>
            </a:pPr>
            <a:r>
              <a:rPr lang="en-US" altLang="en-US" sz="1400" dirty="0">
                <a:solidFill>
                  <a:srgbClr val="0F0F0F"/>
                </a:solidFill>
                <a:latin typeface="Calibri"/>
                <a:ea typeface="Calibri"/>
                <a:cs typeface="Calibri"/>
              </a:rPr>
              <a:t>Image Processing</a:t>
            </a:r>
          </a:p>
          <a:p>
            <a:pPr marL="0" indent="0" algn="ctr">
              <a:buNone/>
            </a:pPr>
            <a:r>
              <a:rPr lang="en-US" altLang="en-US" sz="1400" dirty="0">
                <a:solidFill>
                  <a:srgbClr val="0F0F0F"/>
                </a:solidFill>
                <a:latin typeface="Calibri"/>
                <a:ea typeface="Calibri"/>
                <a:cs typeface="Calibri"/>
              </a:rPr>
              <a:t>      ↓</a:t>
            </a:r>
          </a:p>
          <a:p>
            <a:pPr marL="0" indent="0" algn="ctr">
              <a:buNone/>
            </a:pPr>
            <a:r>
              <a:rPr lang="en-US" altLang="en-US" sz="1400" dirty="0">
                <a:solidFill>
                  <a:srgbClr val="0F0F0F"/>
                </a:solidFill>
                <a:latin typeface="Calibri"/>
                <a:ea typeface="Calibri"/>
                <a:cs typeface="Calibri"/>
              </a:rPr>
              <a:t>Gemini </a:t>
            </a:r>
            <a:r>
              <a:rPr lang="en-IN" altLang="en-US" sz="1400" dirty="0">
                <a:solidFill>
                  <a:srgbClr val="0F0F0F"/>
                </a:solidFill>
                <a:latin typeface="Calibri"/>
                <a:ea typeface="Calibri"/>
                <a:cs typeface="Calibri"/>
              </a:rPr>
              <a:t>3.6 </a:t>
            </a:r>
            <a:r>
              <a:rPr lang="en-US" altLang="en-US" sz="1400" dirty="0">
                <a:solidFill>
                  <a:srgbClr val="0F0F0F"/>
                </a:solidFill>
                <a:latin typeface="Calibri"/>
                <a:ea typeface="Calibri"/>
                <a:cs typeface="Calibri"/>
              </a:rPr>
              <a:t>Flash</a:t>
            </a:r>
          </a:p>
          <a:p>
            <a:pPr marL="0" indent="0" algn="ctr">
              <a:buNone/>
            </a:pPr>
            <a:r>
              <a:rPr lang="en-US" altLang="en-US" sz="1400" dirty="0">
                <a:solidFill>
                  <a:srgbClr val="0F0F0F"/>
                </a:solidFill>
                <a:latin typeface="Calibri"/>
                <a:ea typeface="Calibri"/>
                <a:cs typeface="Calibri"/>
              </a:rPr>
              <a:t>      ↓</a:t>
            </a:r>
          </a:p>
          <a:p>
            <a:pPr marL="0" indent="0" algn="ctr">
              <a:buNone/>
            </a:pPr>
            <a:r>
              <a:rPr lang="en-US" altLang="en-US" sz="1400" dirty="0">
                <a:solidFill>
                  <a:srgbClr val="0F0F0F"/>
                </a:solidFill>
                <a:latin typeface="Calibri"/>
                <a:ea typeface="Calibri"/>
                <a:cs typeface="Calibri"/>
              </a:rPr>
              <a:t>Multimodal Analysis</a:t>
            </a:r>
          </a:p>
          <a:p>
            <a:pPr marL="0" indent="0" algn="ctr">
              <a:buNone/>
            </a:pPr>
            <a:r>
              <a:rPr lang="en-US" altLang="en-US" sz="1400" dirty="0">
                <a:solidFill>
                  <a:srgbClr val="0F0F0F"/>
                </a:solidFill>
                <a:latin typeface="Calibri"/>
                <a:ea typeface="Calibri"/>
                <a:cs typeface="Calibri"/>
              </a:rPr>
              <a:t>      ↓</a:t>
            </a:r>
          </a:p>
          <a:p>
            <a:pPr marL="0" indent="0" algn="ctr">
              <a:buNone/>
            </a:pPr>
            <a:r>
              <a:rPr lang="en-US" altLang="en-US" sz="1400" dirty="0">
                <a:solidFill>
                  <a:srgbClr val="0F0F0F"/>
                </a:solidFill>
                <a:latin typeface="Calibri"/>
                <a:ea typeface="Calibri"/>
                <a:cs typeface="Calibri"/>
              </a:rPr>
              <a:t>Damage Identification</a:t>
            </a:r>
          </a:p>
          <a:p>
            <a:pPr marL="0" indent="0" algn="ctr">
              <a:buNone/>
            </a:pPr>
            <a:r>
              <a:rPr lang="en-US" altLang="en-US" sz="1400" dirty="0">
                <a:solidFill>
                  <a:srgbClr val="0F0F0F"/>
                </a:solidFill>
                <a:latin typeface="Calibri"/>
                <a:ea typeface="Calibri"/>
                <a:cs typeface="Calibri"/>
              </a:rPr>
              <a:t>      ↓</a:t>
            </a:r>
          </a:p>
          <a:p>
            <a:pPr marL="0" indent="0" algn="ctr">
              <a:buNone/>
            </a:pPr>
            <a:r>
              <a:rPr lang="en-US" altLang="en-US" sz="1400" dirty="0">
                <a:solidFill>
                  <a:srgbClr val="0F0F0F"/>
                </a:solidFill>
                <a:latin typeface="Calibri"/>
                <a:ea typeface="Calibri"/>
                <a:cs typeface="Calibri"/>
              </a:rPr>
              <a:t>Structured Assessment</a:t>
            </a:r>
          </a:p>
          <a:p>
            <a:pPr marL="0" indent="0" algn="ctr">
              <a:buNone/>
            </a:pPr>
            <a:r>
              <a:rPr lang="en-US" altLang="en-US" sz="1400" dirty="0">
                <a:solidFill>
                  <a:srgbClr val="0F0F0F"/>
                </a:solidFill>
                <a:latin typeface="Calibri"/>
                <a:ea typeface="Calibri"/>
                <a:cs typeface="Calibri"/>
              </a:rPr>
              <a:t>      ↓</a:t>
            </a:r>
          </a:p>
          <a:p>
            <a:pPr marL="0" indent="0" algn="ctr">
              <a:buNone/>
            </a:pPr>
            <a:r>
              <a:rPr lang="en-US" altLang="en-US" sz="1400" dirty="0">
                <a:solidFill>
                  <a:srgbClr val="0F0F0F"/>
                </a:solidFill>
                <a:latin typeface="Calibri"/>
                <a:ea typeface="Calibri"/>
                <a:cs typeface="Calibri"/>
              </a:rPr>
              <a:t>Result Display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Algorithm &amp; Deployment</a:t>
            </a:r>
            <a:endParaRPr lang="en-US"/>
          </a:p>
        </p:txBody>
      </p:sp>
      <p:sp>
        <p:nvSpPr>
          <p:cNvPr id="2" name="Content Placeholder 1"/>
          <p:cNvSpPr>
            <a:spLocks noGrp="1"/>
          </p:cNvSpPr>
          <p:nvPr>
            <p:ph idx="1"/>
          </p:nvPr>
        </p:nvSpPr>
        <p:spPr>
          <a:xfrm>
            <a:off x="221192" y="1227667"/>
            <a:ext cx="11798088" cy="5222663"/>
          </a:xfrm>
        </p:spPr>
        <p:txBody>
          <a:bodyPr>
            <a:normAutofit fontScale="87500" lnSpcReduction="20000"/>
          </a:bodyPr>
          <a:lstStyle/>
          <a:p>
            <a:pPr marL="0" indent="0">
              <a:buNone/>
            </a:pPr>
            <a:r>
              <a:rPr lang="en-US" altLang="en-US" sz="2800" b="1"/>
              <a:t>Algorithm</a:t>
            </a:r>
            <a:endParaRPr lang="en-US" altLang="en-US" b="1"/>
          </a:p>
          <a:p>
            <a:pPr marL="0" indent="0">
              <a:buNone/>
            </a:pPr>
            <a:r>
              <a:rPr lang="en-US" altLang="en-US"/>
              <a:t>The application uses multimodal Generative AI rather than a traditionally trained image-classification model.</a:t>
            </a:r>
            <a:endParaRPr lang="en-US"/>
          </a:p>
          <a:p>
            <a:pPr marL="305435" indent="-305435"/>
            <a:r>
              <a:rPr lang="en-US" altLang="en-US" dirty="0"/>
              <a:t>User uploads a vehicle image.</a:t>
            </a:r>
          </a:p>
          <a:p>
            <a:pPr marL="305435" indent="-305435"/>
            <a:r>
              <a:rPr lang="en-US" altLang="en-US" dirty="0"/>
              <a:t>The image is opened using PIL.</a:t>
            </a:r>
          </a:p>
          <a:p>
            <a:pPr marL="305435" indent="-305435"/>
            <a:r>
              <a:rPr lang="en-US" altLang="en-US" dirty="0"/>
              <a:t>A carefully designed prompt defines the required analysis.</a:t>
            </a:r>
          </a:p>
          <a:p>
            <a:pPr marL="305435" indent="-305435"/>
            <a:r>
              <a:rPr lang="en-US" altLang="en-US" dirty="0"/>
              <a:t>Image + prompt are sent to Gemini 2.5 Flash.</a:t>
            </a:r>
          </a:p>
          <a:p>
            <a:pPr marL="305435" indent="-305435"/>
            <a:r>
              <a:rPr lang="en-US" altLang="en-US" dirty="0"/>
              <a:t>Gemini analyzes the visual information.</a:t>
            </a:r>
          </a:p>
          <a:p>
            <a:pPr marL="305435" indent="-305435"/>
            <a:r>
              <a:rPr lang="en-US" altLang="en-US" dirty="0"/>
              <a:t>The model identifies visible damage and its characteristics.</a:t>
            </a:r>
          </a:p>
          <a:p>
            <a:pPr marL="305435" indent="-305435"/>
            <a:r>
              <a:rPr lang="en-US" altLang="en-US" dirty="0"/>
              <a:t>The generated response is displayed through </a:t>
            </a:r>
            <a:r>
              <a:rPr lang="en-US" altLang="en-US" dirty="0" err="1"/>
              <a:t>Streamlit</a:t>
            </a:r>
            <a:r>
              <a:rPr lang="en-US" altLang="en-US" dirty="0"/>
              <a:t>.</a:t>
            </a:r>
          </a:p>
          <a:p>
            <a:pPr marL="0" indent="0">
              <a:buNone/>
            </a:pPr>
            <a:r>
              <a:rPr lang="en-US" altLang="en-US" sz="2800" b="1" dirty="0"/>
              <a:t>Deployment</a:t>
            </a:r>
          </a:p>
          <a:p>
            <a:pPr marL="305435" indent="-305435"/>
            <a:r>
              <a:rPr lang="en-US" altLang="en-US" dirty="0"/>
              <a:t>Application Framework: </a:t>
            </a:r>
            <a:r>
              <a:rPr lang="en-US" altLang="en-US" dirty="0" err="1"/>
              <a:t>Streamlit</a:t>
            </a:r>
          </a:p>
          <a:p>
            <a:pPr marL="305435" indent="-305435"/>
            <a:r>
              <a:rPr lang="en-US" altLang="en-US" dirty="0"/>
              <a:t>Model Access: Gemini API</a:t>
            </a:r>
          </a:p>
          <a:p>
            <a:pPr marL="305435" indent="-305435"/>
            <a:r>
              <a:rPr lang="en-US" altLang="en-US"/>
              <a:t>Deployment Options: Streamlit Cloud / Hugging Face Spaces</a:t>
            </a:r>
          </a:p>
          <a:p>
            <a:pPr marL="305435" indent="-305435"/>
            <a:r>
              <a:rPr lang="en-US" altLang="en-US"/>
              <a:t>Input: JPG, JPEG, PNG vehicle images</a:t>
            </a:r>
          </a:p>
          <a:p>
            <a:pPr marL="305435" indent="-305435"/>
            <a:r>
              <a:rPr lang="en-US" altLang="en-US"/>
              <a:t>Output: AI-generated vehicle damage report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Result</a:t>
            </a:r>
            <a:endParaRPr lang="en-US"/>
          </a:p>
        </p:txBody>
      </p:sp>
      <p:sp>
        <p:nvSpPr>
          <p:cNvPr id="2" name="Content Placeholder 1"/>
          <p:cNvSpPr>
            <a:spLocks noGrp="1"/>
          </p:cNvSpPr>
          <p:nvPr>
            <p:ph idx="1"/>
          </p:nvPr>
        </p:nvSpPr>
        <p:spPr/>
        <p:txBody>
          <a:bodyPr>
            <a:noAutofit/>
          </a:bodyPr>
          <a:lstStyle/>
          <a:p>
            <a:pPr marL="0" indent="0">
              <a:buNone/>
            </a:pPr>
            <a:endParaRPr lang="en-US" altLang="en-US" sz="700"/>
          </a:p>
          <a:p>
            <a:pPr marL="0" indent="0">
              <a:buNone/>
            </a:pPr>
            <a:endParaRPr lang="en-US" altLang="en-US" sz="900"/>
          </a:p>
        </p:txBody>
      </p:sp>
      <p:pic>
        <p:nvPicPr>
          <p:cNvPr id="3" name="Picture 2"/>
          <p:cNvPicPr>
            <a:picLocks noChangeAspect="1"/>
          </p:cNvPicPr>
          <p:nvPr/>
        </p:nvPicPr>
        <p:blipFill>
          <a:blip r:embed="rId2"/>
          <a:srcRect t="6140" r="-309" b="-219"/>
          <a:stretch>
            <a:fillRect/>
          </a:stretch>
        </p:blipFill>
        <p:spPr>
          <a:xfrm>
            <a:off x="936837" y="1429385"/>
            <a:ext cx="10320666" cy="45478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33906"/>
            <a:ext cx="11262449" cy="985379"/>
          </a:xfrm>
        </p:spPr>
        <p:txBody>
          <a:bodyPr>
            <a:normAutofit/>
          </a:bodyPr>
          <a:lstStyle/>
          <a:p>
            <a:r>
              <a:rPr lang="en-US" sz="4000" b="1">
                <a:solidFill>
                  <a:schemeClr val="accent1"/>
                </a:solidFill>
                <a:latin typeface="Arial"/>
                <a:cs typeface="Arial"/>
              </a:rPr>
              <a:t>Result</a:t>
            </a:r>
            <a:endParaRPr lang="en-US" sz="4000">
              <a:solidFill>
                <a:srgbClr val="000000"/>
              </a:solidFill>
              <a:latin typeface="Arial"/>
              <a:cs typeface="Arial"/>
            </a:endParaRPr>
          </a:p>
          <a:p>
            <a:endParaRPr lang="en-US" dirty="0"/>
          </a:p>
        </p:txBody>
      </p:sp>
      <p:pic>
        <p:nvPicPr>
          <p:cNvPr id="4" name="Content Placeholder 3"/>
          <p:cNvPicPr>
            <a:picLocks noGrp="1" noChangeAspect="1"/>
          </p:cNvPicPr>
          <p:nvPr>
            <p:ph idx="1"/>
          </p:nvPr>
        </p:nvPicPr>
        <p:blipFill>
          <a:blip r:embed="rId2"/>
          <a:stretch>
            <a:fillRect/>
          </a:stretch>
        </p:blipFill>
        <p:spPr>
          <a:xfrm>
            <a:off x="2099522" y="1438698"/>
            <a:ext cx="7674186" cy="46841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775" y="860906"/>
            <a:ext cx="11262449" cy="858379"/>
          </a:xfrm>
        </p:spPr>
        <p:txBody>
          <a:bodyPr>
            <a:normAutofit/>
          </a:bodyPr>
          <a:lstStyle/>
          <a:p>
            <a:r>
              <a:rPr lang="en-US" sz="4000" b="1">
                <a:solidFill>
                  <a:schemeClr val="accent1"/>
                </a:solidFill>
                <a:latin typeface="Arial"/>
                <a:cs typeface="Arial"/>
              </a:rPr>
              <a:t>Result</a:t>
            </a:r>
            <a:endParaRPr lang="en-US" sz="4000">
              <a:solidFill>
                <a:srgbClr val="000000"/>
              </a:solidFill>
              <a:latin typeface="Arial"/>
              <a:cs typeface="Arial"/>
            </a:endParaRPr>
          </a:p>
          <a:p>
            <a:endParaRPr lang="en-US" dirty="0"/>
          </a:p>
        </p:txBody>
      </p:sp>
      <p:pic>
        <p:nvPicPr>
          <p:cNvPr id="4" name="Content Placeholder 3"/>
          <p:cNvPicPr>
            <a:picLocks noGrp="1" noChangeAspect="1"/>
          </p:cNvPicPr>
          <p:nvPr>
            <p:ph idx="1"/>
          </p:nvPr>
        </p:nvPicPr>
        <p:blipFill>
          <a:blip r:embed="rId2"/>
          <a:stretch>
            <a:fillRect/>
          </a:stretch>
        </p:blipFill>
        <p:spPr>
          <a:xfrm>
            <a:off x="2649432" y="1270000"/>
            <a:ext cx="6289251" cy="52556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Conclusion</a:t>
            </a:r>
            <a:endParaRPr lang="en-US"/>
          </a:p>
        </p:txBody>
      </p:sp>
      <p:sp>
        <p:nvSpPr>
          <p:cNvPr id="2" name="Content Placeholder 1"/>
          <p:cNvSpPr>
            <a:spLocks noGrp="1"/>
          </p:cNvSpPr>
          <p:nvPr>
            <p:ph idx="1"/>
          </p:nvPr>
        </p:nvSpPr>
        <p:spPr/>
        <p:txBody>
          <a:bodyPr>
            <a:normAutofit/>
          </a:bodyPr>
          <a:lstStyle/>
          <a:p>
            <a:pPr marL="0" indent="0" algn="just">
              <a:buNone/>
            </a:pPr>
            <a:r>
              <a:rPr lang="en-US" altLang="en-US" sz="2800">
                <a:solidFill>
                  <a:srgbClr val="0F0F0F"/>
                </a:solidFill>
                <a:latin typeface="Calibri"/>
                <a:ea typeface="Calibri"/>
                <a:cs typeface="Calibri"/>
              </a:rPr>
              <a:t>The AI-Powered Vehicle Damage Analyzer demonstrates how multimodal Generative AI can be used to perform preliminary vehicle damage analysis from images. The application provides a fast and user-friendly way to identify visible damage, categorize its apparent severity, and highlight areas that may require professional inspection. The project also demonstrates the practical use of Gemini 3.6 Flash, prompt engineering, image understanding, Python, and Streamlit in developing a real-world Generative AI application.</a:t>
            </a:r>
            <a:endParaRPr lang="en-US" sz="2000">
              <a:latin typeface="Calibri"/>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442" y="1164442"/>
            <a:ext cx="11283615" cy="5297741"/>
          </a:xfrm>
        </p:spPr>
        <p:txBody>
          <a:bodyPr>
            <a:normAutofit fontScale="97500"/>
          </a:bodyPr>
          <a:lstStyle/>
          <a:p>
            <a:pPr marL="0" indent="0">
              <a:buNone/>
            </a:pPr>
            <a:r>
              <a:rPr lang="en-US" altLang="en-US" sz="2100" b="1">
                <a:latin typeface="Calibri"/>
                <a:ea typeface="Calibri"/>
                <a:cs typeface="Calibri"/>
              </a:rPr>
              <a:t>The system can be enhanced with several advanced capabilities:</a:t>
            </a:r>
            <a:br>
              <a:rPr lang="en-US" altLang="en-US" sz="2100" b="1" dirty="0">
                <a:latin typeface="Calibri"/>
                <a:ea typeface="Calibri"/>
                <a:cs typeface="Calibri"/>
              </a:rPr>
            </a:br>
            <a:endParaRPr lang="en-US" altLang="en-US" sz="2100" b="1">
              <a:latin typeface="Calibri"/>
              <a:ea typeface="Calibri"/>
              <a:cs typeface="Calibri"/>
            </a:endParaRPr>
          </a:p>
          <a:p>
            <a:pPr marL="285750" indent="-285750">
              <a:buFont typeface="Arial" panose="05020102010507070707" pitchFamily="18" charset="2"/>
              <a:buChar char="•"/>
            </a:pPr>
            <a:r>
              <a:rPr lang="en-US" altLang="en-US" sz="1800">
                <a:latin typeface="Calibri"/>
                <a:ea typeface="Calibri"/>
                <a:cs typeface="Calibri"/>
              </a:rPr>
              <a:t>Repair Cost Estimation based on damage type and severity.</a:t>
            </a:r>
          </a:p>
          <a:p>
            <a:pPr marL="285750" indent="-285750">
              <a:buFont typeface="Arial" panose="05020102010507070707" pitchFamily="18" charset="2"/>
              <a:buChar char="•"/>
            </a:pPr>
            <a:r>
              <a:rPr lang="en-US" altLang="en-US" sz="1800">
                <a:latin typeface="Calibri"/>
                <a:ea typeface="Calibri"/>
                <a:cs typeface="Calibri"/>
              </a:rPr>
              <a:t>Damage Localization using bounding boxes or segmentation.</a:t>
            </a:r>
          </a:p>
          <a:p>
            <a:pPr marL="285750" indent="-285750">
              <a:buFont typeface="Arial" panose="05020102010507070707" pitchFamily="18" charset="2"/>
              <a:buChar char="•"/>
            </a:pPr>
            <a:r>
              <a:rPr lang="en-US" altLang="en-US" sz="1800">
                <a:latin typeface="Calibri"/>
                <a:ea typeface="Calibri"/>
                <a:cs typeface="Calibri"/>
              </a:rPr>
              <a:t>Damage Severity Scoring using a standardized scoring system.</a:t>
            </a:r>
          </a:p>
          <a:p>
            <a:pPr marL="285750" indent="-285750">
              <a:buFont typeface="Arial" panose="05020102010507070707" pitchFamily="18" charset="2"/>
              <a:buChar char="•"/>
            </a:pPr>
            <a:r>
              <a:rPr lang="en-US" altLang="en-US" sz="1800">
                <a:latin typeface="Calibri"/>
                <a:ea typeface="Calibri"/>
                <a:cs typeface="Calibri"/>
              </a:rPr>
              <a:t>Multiple Vehicle Support including cars, bikes, trucks, and other vehicles.</a:t>
            </a:r>
          </a:p>
          <a:p>
            <a:pPr marL="285750" indent="-285750">
              <a:buFont typeface="Arial" panose="05020102010507070707" pitchFamily="18" charset="2"/>
              <a:buChar char="•"/>
            </a:pPr>
            <a:r>
              <a:rPr lang="en-US" altLang="en-US" sz="1800">
                <a:latin typeface="Calibri"/>
                <a:ea typeface="Calibri"/>
                <a:cs typeface="Calibri"/>
              </a:rPr>
              <a:t>Multiple Image Analysis from different angles.</a:t>
            </a:r>
          </a:p>
          <a:p>
            <a:pPr marL="285750" indent="-285750">
              <a:buFont typeface="Arial" panose="05020102010507070707" pitchFamily="18" charset="2"/>
              <a:buChar char="•"/>
            </a:pPr>
            <a:r>
              <a:rPr lang="en-US" altLang="en-US" sz="1800">
                <a:latin typeface="Calibri"/>
                <a:ea typeface="Calibri"/>
                <a:cs typeface="Calibri"/>
              </a:rPr>
              <a:t>Automated Insurance Report Generation.</a:t>
            </a:r>
          </a:p>
          <a:p>
            <a:pPr marL="285750" indent="-285750">
              <a:buFont typeface="Arial" panose="05020102010507070707" pitchFamily="18" charset="2"/>
              <a:buChar char="•"/>
            </a:pPr>
            <a:r>
              <a:rPr lang="en-US" altLang="en-US" sz="1800">
                <a:latin typeface="Calibri"/>
                <a:ea typeface="Calibri"/>
                <a:cs typeface="Calibri"/>
              </a:rPr>
              <a:t>Integration with Vehicle Service Centers.</a:t>
            </a:r>
          </a:p>
          <a:p>
            <a:pPr marL="285750" indent="-285750">
              <a:buFont typeface="Arial" panose="05020102010507070707" pitchFamily="18" charset="2"/>
              <a:buChar char="•"/>
            </a:pPr>
            <a:r>
              <a:rPr lang="en-US" altLang="en-US" sz="1800">
                <a:latin typeface="Calibri"/>
                <a:ea typeface="Calibri"/>
                <a:cs typeface="Calibri"/>
              </a:rPr>
              <a:t>Development of a mobile application.</a:t>
            </a:r>
          </a:p>
          <a:p>
            <a:pPr marL="285750" indent="-285750">
              <a:buFont typeface="Arial" panose="05020102010507070707" pitchFamily="18" charset="2"/>
              <a:buChar char="•"/>
            </a:pPr>
            <a:r>
              <a:rPr lang="en-US" altLang="en-US" sz="1800">
                <a:latin typeface="Calibri"/>
                <a:ea typeface="Calibri"/>
                <a:cs typeface="Calibri"/>
              </a:rPr>
              <a:t>Integration with specialized computer-vision models for more precise damage detection.</a:t>
            </a:r>
          </a:p>
        </p:txBody>
      </p:sp>
      <p:sp>
        <p:nvSpPr>
          <p:cNvPr id="5" name="Title 4"/>
          <p:cNvSpPr txBox="1"/>
          <p:nvPr/>
        </p:nvSpPr>
        <p:spPr>
          <a:xfrm>
            <a:off x="419253" y="632992"/>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panose="020B0604020202020204"/>
                <a:cs typeface="Arial" panose="020B0604020202020204"/>
              </a:rPr>
              <a:t>Future scope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References</a:t>
            </a:r>
            <a:endParaRPr lang="en-US"/>
          </a:p>
        </p:txBody>
      </p:sp>
      <p:sp>
        <p:nvSpPr>
          <p:cNvPr id="2" name="Content Placeholder 1"/>
          <p:cNvSpPr>
            <a:spLocks noGrp="1"/>
          </p:cNvSpPr>
          <p:nvPr>
            <p:ph idx="1"/>
          </p:nvPr>
        </p:nvSpPr>
        <p:spPr>
          <a:xfrm>
            <a:off x="581192" y="1249110"/>
            <a:ext cx="11029615" cy="5287156"/>
          </a:xfrm>
        </p:spPr>
        <p:txBody>
          <a:bodyPr vert="horz" lIns="91440" tIns="45720" rIns="91440" bIns="45720" rtlCol="0" anchor="ctr">
            <a:noAutofit/>
          </a:bodyPr>
          <a:lstStyle/>
          <a:p>
            <a:pPr marL="342900" indent="-342900" algn="just">
              <a:buFont typeface="Arial" panose="05020102010507070707" pitchFamily="18" charset="2"/>
              <a:buChar char="•"/>
            </a:pPr>
            <a:r>
              <a:rPr lang="en-US" altLang="en-US" sz="2000">
                <a:latin typeface="Calibri"/>
                <a:ea typeface="Calibri"/>
                <a:cs typeface="Calibri"/>
              </a:rPr>
              <a:t>Google Gemini / Gemini API Documentation – Multimodal Generative AI and image understanding.</a:t>
            </a:r>
            <a:endParaRPr lang="en-US" sz="2000">
              <a:latin typeface="Calibri"/>
              <a:ea typeface="Calibri"/>
              <a:cs typeface="Calibri"/>
            </a:endParaRPr>
          </a:p>
          <a:p>
            <a:pPr marL="342900" indent="-342900" algn="just">
              <a:buFont typeface="Arial" panose="05020102010507070707" pitchFamily="18" charset="2"/>
              <a:buChar char="•"/>
            </a:pPr>
            <a:r>
              <a:rPr lang="en-US" altLang="en-US" sz="2000">
                <a:latin typeface="Calibri"/>
                <a:ea typeface="Calibri"/>
                <a:cs typeface="Calibri"/>
              </a:rPr>
              <a:t>Streamlit Documentation – Development and deployment of Python-based web applications.</a:t>
            </a:r>
          </a:p>
          <a:p>
            <a:pPr marL="342900" indent="-342900" algn="just">
              <a:buFont typeface="Arial" panose="05020102010507070707" pitchFamily="18" charset="2"/>
              <a:buChar char="•"/>
            </a:pPr>
            <a:r>
              <a:rPr lang="en-US" altLang="en-US" sz="2000">
                <a:latin typeface="Calibri"/>
                <a:ea typeface="Calibri"/>
                <a:cs typeface="Calibri"/>
              </a:rPr>
              <a:t>Python Documentation – Python programming language and standard libraries.</a:t>
            </a:r>
          </a:p>
          <a:p>
            <a:pPr marL="342900" indent="-342900" algn="just">
              <a:buFont typeface="Arial" panose="05020102010507070707" pitchFamily="18" charset="2"/>
              <a:buChar char="•"/>
            </a:pPr>
            <a:r>
              <a:rPr lang="en-US" altLang="en-US" sz="2000">
                <a:latin typeface="Calibri"/>
                <a:ea typeface="Calibri"/>
                <a:cs typeface="Calibri"/>
              </a:rPr>
              <a:t>Pillow (PIL) Documentation – Image processing and manipulation.</a:t>
            </a:r>
          </a:p>
          <a:p>
            <a:pPr marL="342900" indent="-342900" algn="just">
              <a:buFont typeface="Arial" panose="05020102010507070707" pitchFamily="18" charset="2"/>
              <a:buChar char="•"/>
            </a:pPr>
            <a:r>
              <a:rPr lang="en-US" altLang="en-US" sz="2000">
                <a:latin typeface="Calibri"/>
                <a:ea typeface="Calibri"/>
                <a:cs typeface="Calibri"/>
              </a:rPr>
              <a:t>Google Generative AI Documentation – API integration and Generative AI model usage.</a:t>
            </a:r>
          </a:p>
          <a:p>
            <a:pPr marL="342900" indent="-342900" algn="just">
              <a:buFont typeface="Arial" panose="05020102010507070707" pitchFamily="18" charset="2"/>
              <a:buChar char="•"/>
            </a:pPr>
            <a:r>
              <a:rPr lang="en-US" altLang="en-US" sz="2000">
                <a:latin typeface="Calibri"/>
                <a:ea typeface="Calibri"/>
                <a:cs typeface="Calibri"/>
              </a:rPr>
              <a:t>Relevant research literature on computer vision, vehicle damage detection, and automated visual inspection.</a:t>
            </a:r>
          </a:p>
          <a:p>
            <a:pPr marL="342900" indent="-342900">
              <a:buFont typeface="Arial" panose="05020102010507070707" pitchFamily="18" charset="2"/>
              <a:buChar char="•"/>
            </a:pPr>
            <a:r>
              <a:rPr lang="en-IN" sz="2000">
                <a:latin typeface="Calibri"/>
                <a:ea typeface="Calibri"/>
                <a:cs typeface="Calibri"/>
              </a:rPr>
              <a:t>GitHub</a:t>
            </a:r>
          </a:p>
          <a:p>
            <a:pPr marL="342900" indent="-342900">
              <a:buFont typeface="Arial" panose="05020102010507070707" pitchFamily="18" charset="2"/>
              <a:buChar char="•"/>
            </a:pPr>
            <a:r>
              <a:rPr lang="en-IN" sz="2000">
                <a:latin typeface="Calibri"/>
                <a:ea typeface="Calibri"/>
                <a:cs typeface="Calibri"/>
              </a:rPr>
              <a:t>The Python Standard Library — Python 3.14.6 documentation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Deployment link / </a:t>
            </a:r>
            <a:r>
              <a:rPr lang="en-IN" err="1"/>
              <a:t>github</a:t>
            </a:r>
            <a:r>
              <a:rPr lang="en-IN"/>
              <a:t> link</a:t>
            </a:r>
          </a:p>
        </p:txBody>
      </p:sp>
      <p:sp>
        <p:nvSpPr>
          <p:cNvPr id="3" name="Content Placeholder 2"/>
          <p:cNvSpPr>
            <a:spLocks noGrp="1"/>
          </p:cNvSpPr>
          <p:nvPr>
            <p:ph idx="1"/>
          </p:nvPr>
        </p:nvSpPr>
        <p:spPr/>
        <p:txBody>
          <a:bodyPr/>
          <a:lstStyle/>
          <a:p>
            <a:pPr marL="305435" indent="-305435"/>
            <a:r>
              <a:rPr lang="en-IN" b="1"/>
              <a:t>Github Link:</a:t>
            </a:r>
            <a:r>
              <a:rPr lang="en-IN" dirty="0"/>
              <a:t> </a:t>
            </a:r>
            <a:r>
              <a:rPr lang="en-IN" dirty="0">
                <a:ea typeface="+mn-lt"/>
                <a:cs typeface="+mn-lt"/>
                <a:hlinkClick r:id="rId2"/>
              </a:rPr>
              <a:t>https://github.com/pratyusmalik-tech/AI-Vehicle-Management-Analyser.git</a:t>
            </a:r>
            <a:endParaRPr lang="en-US"/>
          </a:p>
          <a:p>
            <a:pPr marL="305435" indent="-305435"/>
            <a:r>
              <a:rPr lang="en-IN" b="1"/>
              <a:t>Deployment:</a:t>
            </a:r>
            <a:r>
              <a:rPr lang="en-IN"/>
              <a:t> </a:t>
            </a:r>
            <a:r>
              <a:rPr lang="en-IN" dirty="0">
                <a:ea typeface="+mn-lt"/>
                <a:cs typeface="+mn-lt"/>
                <a:hlinkClick r:id="rId3"/>
              </a:rPr>
              <a:t>https://ai-vehicle-management-analyser-b8fwue4m52vcnj6jpofzvi.streamlit.app/</a:t>
            </a:r>
          </a:p>
          <a:p>
            <a:pPr marL="305435" indent="-305435"/>
            <a:r>
              <a:rPr lang="en-IN" dirty="0">
                <a:hlinkClick r:id="rId3"/>
              </a:rPr>
              <a:t>Streamlit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41874" y="2649801"/>
            <a:ext cx="9298744" cy="1325563"/>
          </a:xfrm>
        </p:spPr>
        <p:txBody>
          <a:bodyPr>
            <a:normAutofit/>
          </a:bodyPr>
          <a:lstStyle/>
          <a:p>
            <a:pPr algn="ctr"/>
            <a:r>
              <a:rPr lang="en-US" sz="6000" b="1">
                <a:solidFill>
                  <a:srgbClr val="002060"/>
                </a:solidFill>
                <a:latin typeface="Arial"/>
                <a:cs typeface="Arial"/>
              </a:rPr>
              <a:t>THANK YOU</a:t>
            </a: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datastoreItem>
</file>

<file path=customXml/itemProps2.xml><?xml version="1.0" encoding="utf-8"?>
<ds:datastoreItem xmlns:ds="http://schemas.openxmlformats.org/officeDocument/2006/customXml" ds:itemID="{927BD4C1-B6B1-4715-ABF9-E660A51A4EA0}">
  <ds:schemaRefs/>
</ds:datastoreItem>
</file>

<file path=customXml/itemProps3.xml><?xml version="1.0" encoding="utf-8"?>
<ds:datastoreItem xmlns:ds="http://schemas.openxmlformats.org/officeDocument/2006/customXml" ds:itemID="{6E816721-11E4-4989-8472-AB5A7EC20404}">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4612</Words>
  <Application>Microsoft Office PowerPoint</Application>
  <PresentationFormat>Widescreen</PresentationFormat>
  <Paragraphs>131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DividendVTI</vt:lpstr>
      <vt:lpstr>AutoInspect AI - Intelligent Vehicle Damage Assessment System</vt:lpstr>
      <vt:lpstr>OUTLINE</vt:lpstr>
      <vt:lpstr>Problem Statement</vt:lpstr>
      <vt:lpstr>SYSTEM DEVELOPMENT APPROACH</vt:lpstr>
      <vt:lpstr>TECHNOLOGY STACK</vt:lpstr>
      <vt:lpstr>Proposed Solution</vt:lpstr>
      <vt:lpstr>System  Approach</vt:lpstr>
      <vt:lpstr>Algorithm &amp; Deployment</vt:lpstr>
      <vt:lpstr>Result</vt:lpstr>
      <vt:lpstr>Result </vt:lpstr>
      <vt:lpstr>Result </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Pratyush</cp:lastModifiedBy>
  <cp:revision>150</cp:revision>
  <dcterms:created xsi:type="dcterms:W3CDTF">2021-05-26T16:50:00Z</dcterms:created>
  <dcterms:modified xsi:type="dcterms:W3CDTF">2026-09-14T14:19:39Z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6E255437BAD644AAAE33587224066DDD_12</vt:lpwstr>
  </property>
  <property fmtid="{D5CDD505-2E9C-101B-9397-08002B2CF9AE}" pid="4" name="KSOProductBuildVer">
    <vt:lpwstr>1033-12.1.0.28485</vt:lpwstr>
  </property>
</Properties>
</file>